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slide - high level overview of the MCP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block diagram showing Host -&gt; MCP Server -&gt; 3 Sub MCP Servers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of the object detection and tracking sub MCP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of the Vision-Language-Action sub MCP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Details of the local file system sub MCP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Step-by-step communication flow between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slide with key architectural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MCP Server Architecture - Block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Muhammad Islam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Server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Diagram Overview</a:t>
            </a:r>
          </a:p>
          <a:p/>
          <a:p>
            <a:r>
              <a:t>Host ↔ MCP Server ↔ Sub MCP Servers</a:t>
            </a:r>
          </a:p>
          <a:p/>
          <a:p>
            <a:r>
              <a:t>This presentation illustrates the hierarchical architecture</a:t>
            </a:r>
          </a:p>
          <a:p>
            <a:r>
              <a:t>of the Model Context Protocol (MCP) server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┌─────────────────────────────────────────────────┐</a:t>
            </a:r>
          </a:p>
          <a:p>
            <a:r>
              <a:t>│                   HOST (IDE / Agent)             │</a:t>
            </a:r>
          </a:p>
          <a:p>
            <a:r>
              <a:t>│         (Kiro, VS Code, Claude Desktop)         │</a:t>
            </a:r>
          </a:p>
          <a:p>
            <a:r>
              <a:t>└────────────────────────┬────────────────────────┘</a:t>
            </a:r>
          </a:p>
          <a:p>
            <a:r>
              <a:t>│ stdio / SSE</a:t>
            </a:r>
          </a:p>
          <a:p>
            <a:r>
              <a:t>▼</a:t>
            </a:r>
          </a:p>
          <a:p>
            <a:r>
              <a:t>┌─────────────────────────────────────────────────┐</a:t>
            </a:r>
          </a:p>
          <a:p>
            <a:r>
              <a:t>│              MCP SERVER (Main Gateway)           │</a:t>
            </a:r>
          </a:p>
          <a:p>
            <a:r>
              <a:t>│         Routes requests to sub-servers          │</a:t>
            </a:r>
          </a:p>
          <a:p>
            <a:r>
              <a:t>└───────┬──────────────────┬──────────────┬───────┘</a:t>
            </a:r>
          </a:p>
          <a:p>
            <a:r>
              <a:t>│                  │              │</a:t>
            </a:r>
          </a:p>
          <a:p>
            <a:r>
              <a:t>▼                  ▼              ▼</a:t>
            </a:r>
          </a:p>
          <a:p>
            <a:r>
              <a:t>┌──────────────┐  ┌──────────────┐  ┌──────────────┐</a:t>
            </a:r>
          </a:p>
          <a:p>
            <a:r>
              <a:t>│  Sub MCP #1  │  │  Sub MCP #2  │  │  Sub MCP #3  │</a:t>
            </a:r>
          </a:p>
          <a:p>
            <a:r>
              <a:t>│  Object Det  │  │  VLA-based   │  │  Local File  │</a:t>
            </a:r>
          </a:p>
          <a:p>
            <a:r>
              <a:t>│  &amp; Tracking  │  │  Solution    │  │  System      │</a:t>
            </a:r>
          </a:p>
          <a:p>
            <a:r>
              <a:t>└──────────────┘  └──────────────┘  └──────────────┘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MCP Server #1: Object Detection &amp;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Computer vision-based object detection and tracking</a:t>
            </a:r>
          </a:p>
          <a:p/>
          <a:p>
            <a:r>
              <a:t>Capabilities:</a:t>
            </a:r>
          </a:p>
          <a:p>
            <a:r>
              <a:t>• Real-time object detection (YOLO, SSD, Faster R-CNN)</a:t>
            </a:r>
          </a:p>
          <a:p>
            <a:r>
              <a:t>• Multi-object tracking (DeepSORT, ByteTrack)</a:t>
            </a:r>
          </a:p>
          <a:p>
            <a:r>
              <a:t>• 3D bounding box estimation</a:t>
            </a:r>
          </a:p>
          <a:p>
            <a:r>
              <a:t>• Monocular depth estimation</a:t>
            </a:r>
          </a:p>
          <a:p/>
          <a:p>
            <a:r>
              <a:t>Tools Exposed:</a:t>
            </a:r>
          </a:p>
          <a:p>
            <a:r>
              <a:t>• detect_objects(image) → bounding boxes + labels</a:t>
            </a:r>
          </a:p>
          <a:p>
            <a:r>
              <a:t>• track_objects(video_stream) → tracked IDs + trajectories</a:t>
            </a:r>
          </a:p>
          <a:p>
            <a:r>
              <a:t>• estimate_depth(image) → depth map</a:t>
            </a:r>
          </a:p>
          <a:p/>
          <a:p>
            <a:r>
              <a:t>Use Case: Autonomous driving perception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MCP Server #2: VLA-based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Vision-Language-Action model integration</a:t>
            </a:r>
          </a:p>
          <a:p/>
          <a:p>
            <a:r>
              <a:t>Capabilities:</a:t>
            </a:r>
          </a:p>
          <a:p>
            <a:r>
              <a:t>• Visual scene understanding via VLMs</a:t>
            </a:r>
          </a:p>
          <a:p>
            <a:r>
              <a:t>• Natural language instruction parsing</a:t>
            </a:r>
          </a:p>
          <a:p>
            <a:r>
              <a:t>• Action planning and execution</a:t>
            </a:r>
          </a:p>
          <a:p>
            <a:r>
              <a:t>• Multi-modal reasoning (image + text → action)</a:t>
            </a:r>
          </a:p>
          <a:p/>
          <a:p>
            <a:r>
              <a:t>Tools Exposed:</a:t>
            </a:r>
          </a:p>
          <a:p>
            <a:r>
              <a:t>• understand_scene(image, query) → description + reasoning</a:t>
            </a:r>
          </a:p>
          <a:p>
            <a:r>
              <a:t>• plan_action(goal, context) → action sequence</a:t>
            </a:r>
          </a:p>
          <a:p>
            <a:r>
              <a:t>• execute_action(action_plan) → result + feedback</a:t>
            </a:r>
          </a:p>
          <a:p/>
          <a:p>
            <a:r>
              <a:t>Use Case: Robotic manipulation, autonomous navigation,</a:t>
            </a:r>
          </a:p>
          <a:p>
            <a:r>
              <a:t>human-robot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MCP Server #3: Local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File system access and management</a:t>
            </a:r>
          </a:p>
          <a:p/>
          <a:p>
            <a:r>
              <a:t>Capabilities:</a:t>
            </a:r>
          </a:p>
          <a:p>
            <a:r>
              <a:t>• Read/write files and directories</a:t>
            </a:r>
          </a:p>
          <a:p>
            <a:r>
              <a:t>• Search files by name or content</a:t>
            </a:r>
          </a:p>
          <a:p>
            <a:r>
              <a:t>• Watch for file changes</a:t>
            </a:r>
          </a:p>
          <a:p>
            <a:r>
              <a:t>• Manage project structure</a:t>
            </a:r>
          </a:p>
          <a:p/>
          <a:p>
            <a:r>
              <a:t>Tools Exposed:</a:t>
            </a:r>
          </a:p>
          <a:p>
            <a:r>
              <a:t>• read_file(path) → file content</a:t>
            </a:r>
          </a:p>
          <a:p>
            <a:r>
              <a:t>• write_file(path, content) → success</a:t>
            </a:r>
          </a:p>
          <a:p>
            <a:r>
              <a:t>• search_files(pattern) → matching files</a:t>
            </a:r>
          </a:p>
          <a:p>
            <a:r>
              <a:t>• list_directory(path) → directory tree</a:t>
            </a:r>
          </a:p>
          <a:p/>
          <a:p>
            <a:r>
              <a:t>Use Case: Code editing, configuration management,</a:t>
            </a:r>
          </a:p>
          <a:p>
            <a:r>
              <a:t>data pipeline I/O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 (IDE/Agent)</a:t>
            </a:r>
          </a:p>
          <a:p>
            <a:r>
              <a:t>│</a:t>
            </a:r>
          </a:p>
          <a:p>
            <a:r>
              <a:t>│  1. User request (natural language)</a:t>
            </a:r>
          </a:p>
          <a:p>
            <a:r>
              <a:t>▼</a:t>
            </a:r>
          </a:p>
          <a:p>
            <a:r>
              <a:t>MCP Server (Gateway)</a:t>
            </a:r>
          </a:p>
          <a:p>
            <a:r>
              <a:t>│</a:t>
            </a:r>
          </a:p>
          <a:p>
            <a:r>
              <a:t>│  2. Route to appropriate sub-server</a:t>
            </a:r>
          </a:p>
          <a:p>
            <a:r>
              <a:t>│  3. Tool call via JSON-RPC over stdio</a:t>
            </a:r>
          </a:p>
          <a:p>
            <a:r>
              <a:t>▼</a:t>
            </a:r>
          </a:p>
          <a:p>
            <a:r>
              <a:t>Sub MCP Server</a:t>
            </a:r>
          </a:p>
          <a:p>
            <a:r>
              <a:t>│</a:t>
            </a:r>
          </a:p>
          <a:p>
            <a:r>
              <a:t>│  4. Execute tool logic</a:t>
            </a:r>
          </a:p>
          <a:p>
            <a:r>
              <a:t>│  5. Return structured result</a:t>
            </a:r>
          </a:p>
          <a:p>
            <a:r>
              <a:t>▼</a:t>
            </a:r>
          </a:p>
          <a:p>
            <a:r>
              <a:t>MCP Server → Host</a:t>
            </a:r>
          </a:p>
          <a:p>
            <a:r>
              <a:t>│</a:t>
            </a:r>
          </a:p>
          <a:p>
            <a:r>
              <a:t>│  6. Aggregate results</a:t>
            </a:r>
          </a:p>
          <a:p>
            <a:r>
              <a:t>│  7. Present to user</a:t>
            </a:r>
          </a:p>
          <a:p>
            <a:r>
              <a:t>▼</a:t>
            </a:r>
          </a:p>
          <a:p>
            <a:r>
              <a:t>User sees final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/>
          <a:p>
            <a:r>
              <a:t>• MCP provides a standardized protocol for tool integration</a:t>
            </a:r>
          </a:p>
          <a:p>
            <a:r>
              <a:t>• Sub MCP servers enable modular, domain-specific capabilities</a:t>
            </a:r>
          </a:p>
          <a:p>
            <a:r>
              <a:t>• The gateway pattern allows routing and orchestration</a:t>
            </a:r>
          </a:p>
          <a:p>
            <a:r>
              <a:t>• Each sub-server is independently deployable and testable</a:t>
            </a:r>
          </a:p>
          <a:p/>
          <a:p>
            <a:r>
              <a:t>Architecture Benefits:</a:t>
            </a:r>
          </a:p>
          <a:p>
            <a:r>
              <a:t>• Separation of concerns</a:t>
            </a:r>
          </a:p>
          <a:p>
            <a:r>
              <a:t>• Scalability (add new sub-servers easily)</a:t>
            </a:r>
          </a:p>
          <a:p>
            <a:r>
              <a:t>• Reusability across different hosts/agents</a:t>
            </a:r>
          </a:p>
          <a:p>
            <a:r>
              <a:t>• Consistent interface (JSON-RPC over stdio/SSE)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 Architecture - Block Diagram</dc:title>
  <dc:subject/>
  <dc:creator>Muhammad Islam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